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Inter"/>
      <p:regular r:id="rId35"/>
      <p:bold r:id="rId36"/>
      <p:italic r:id="rId37"/>
      <p:boldItalic r:id="rId38"/>
    </p:embeddedFont>
    <p:embeddedFont>
      <p:font typeface="Outfit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jyz5Zv8ZZvezSY2pfRipfRIaQ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1CC85A-04B9-4C1B-BF05-7EC4A5312BAD}">
  <a:tblStyle styleId="{7D1CC85A-04B9-4C1B-BF05-7EC4A5312BA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nter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Inter-italic.fntdata"/><Relationship Id="rId14" Type="http://schemas.openxmlformats.org/officeDocument/2006/relationships/slide" Target="slides/slide8.xml"/><Relationship Id="rId36" Type="http://schemas.openxmlformats.org/officeDocument/2006/relationships/font" Target="fonts/Inter-bold.fntdata"/><Relationship Id="rId17" Type="http://schemas.openxmlformats.org/officeDocument/2006/relationships/slide" Target="slides/slide11.xml"/><Relationship Id="rId39" Type="http://schemas.openxmlformats.org/officeDocument/2006/relationships/font" Target="fonts/Outfit-regular.fntdata"/><Relationship Id="rId16" Type="http://schemas.openxmlformats.org/officeDocument/2006/relationships/slide" Target="slides/slide10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d22e1dc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d22e1dc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d3aa6957a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d3aa6957a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d3aa6957a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d3aa6957a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d3aa6957a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d3aa6957a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d3aa6957a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d3aa6957a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d22e1dc8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d22e1dc8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d22e1dc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d22e1dc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ccst-testvm.pune.cdac.in:8080/epAdmin/index.js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u/1/folders/1vdBcbS1mnoZ74sBGpspYiZogNBVmn9i_" TargetMode="External"/><Relationship Id="rId4" Type="http://schemas.openxmlformats.org/officeDocument/2006/relationships/hyperlink" Target="https://drive.google.com/drive/u/1/folders/1hXAGG9ZW2nJb5WX-BL-HvWalILERyK2M" TargetMode="External"/><Relationship Id="rId5" Type="http://schemas.openxmlformats.org/officeDocument/2006/relationships/hyperlink" Target="https://drive.google.com/drive/u/1/folders/1bbw6ldaDWuTeeixsQe6HJ-LQBsk43Md9" TargetMode="External"/><Relationship Id="rId6" Type="http://schemas.openxmlformats.org/officeDocument/2006/relationships/hyperlink" Target="https://drive.google.com/drive/u/1/folders/1Jwrbmqf872KAEVvBKRnVYpGYkyxq5Vwq" TargetMode="External"/><Relationship Id="rId7" Type="http://schemas.openxmlformats.org/officeDocument/2006/relationships/hyperlink" Target="https://drive.google.com/drive/u/1/folders/1Ehk2uCizTJGMGuksBYECB_wKxq-WEsdb" TargetMode="External"/><Relationship Id="rId8" Type="http://schemas.openxmlformats.org/officeDocument/2006/relationships/hyperlink" Target="https://drive.google.com/drive/u/1/folders/1H4dEk8uQ9INnB-dPVneDOdwsL1wIDPux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N_gkPRf0Vj0FvbUsCApiCgVw5JmYkj4G/edit?usp=drive_link&amp;ouid=102375997918367176501&amp;rtpof=true&amp;sd=true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rive.google.com/file/d/1qdw_E3yugaVfRdbgM7ZlLExckQvZn1jO/view?usp=drive_link" TargetMode="External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ccst-testvm.pune.cdac.in:8080/epAdmin/index.jsp" TargetMode="External"/><Relationship Id="rId4" Type="http://schemas.openxmlformats.org/officeDocument/2006/relationships/hyperlink" Target="https://cdac.in/index.aspx?id=Acts" TargetMode="External"/><Relationship Id="rId5" Type="http://schemas.openxmlformats.org/officeDocument/2006/relationships/hyperlink" Target="https://drive.google.com/drive/folders/1_iNl-4iROLBPkRTfQrWzGzkf71eV8tmS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14827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GB" sz="6000">
                <a:latin typeface="Outfit"/>
                <a:ea typeface="Outfit"/>
                <a:cs typeface="Outfit"/>
                <a:sym typeface="Outfit"/>
              </a:rPr>
              <a:t>Testing of </a:t>
            </a:r>
            <a:r>
              <a:rPr b="1" lang="en-GB" sz="6000">
                <a:latin typeface="Outfit"/>
                <a:ea typeface="Outfit"/>
                <a:cs typeface="Outfit"/>
                <a:sym typeface="Outfit"/>
              </a:rPr>
              <a:t>e-Pariksha </a:t>
            </a:r>
            <a:r>
              <a:rPr b="1" lang="en-GB" sz="6000">
                <a:latin typeface="Outfit"/>
                <a:ea typeface="Outfit"/>
                <a:cs typeface="Outfit"/>
                <a:sym typeface="Outfit"/>
              </a:rPr>
              <a:t>Platform 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0374" y="305025"/>
            <a:ext cx="26035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957150" y="2719573"/>
            <a:ext cx="513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A1A1AA"/>
                </a:solidFill>
                <a:latin typeface="Outfit"/>
                <a:ea typeface="Outfit"/>
                <a:cs typeface="Outfit"/>
                <a:sym typeface="Outfit"/>
              </a:rPr>
              <a:t>Analyse Your Knowledge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442350" y="3535325"/>
            <a:ext cx="2259300" cy="98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Project Guide :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Ms. Gita Gosavi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511000" y="2971075"/>
            <a:ext cx="2259300" cy="98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Manual &amp; Automation 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Tilak Shelke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2509401147007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11700" y="2971075"/>
            <a:ext cx="2259300" cy="98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Manual &amp; Automation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Vivek Tiwari 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2509401147009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11700" y="4076775"/>
            <a:ext cx="2259300" cy="98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Manual &amp; JMeter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Manoj Ambhore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2509401147002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511000" y="4076775"/>
            <a:ext cx="2441100" cy="98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Manual &amp; JMeter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Vishvjeet Singh Chauhan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2509401147008</a:t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Introduction: 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 e-Pariksha Portal is a comprehensive, web-based examination management system developed by C-DAC Pune.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It facilitates secure question bank management, real-time exam monitoring, and instant automated evaluation for large-scale candidate batches.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By integrating advanced data encryption and shuffling algorithms, the portal ensures a transparent, cheat-proof, and highly scalable environment for both academic and professional assessments( </a:t>
            </a:r>
            <a:r>
              <a:rPr lang="en-GB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Link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)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22e1dc8f_0_22"/>
          <p:cNvSpPr txBox="1"/>
          <p:nvPr>
            <p:ph type="title"/>
          </p:nvPr>
        </p:nvSpPr>
        <p:spPr>
          <a:xfrm>
            <a:off x="437150" y="43173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Project Implementation Window: 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3" name="Google Shape;73;g3bd22e1dc8f_0_22"/>
          <p:cNvSpPr txBox="1"/>
          <p:nvPr/>
        </p:nvSpPr>
        <p:spPr>
          <a:xfrm>
            <a:off x="437150" y="1211300"/>
            <a:ext cx="485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Char char="●"/>
            </a:pPr>
            <a:r>
              <a:rPr lang="en-GB" sz="2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Project Start Date</a:t>
            </a:r>
            <a:r>
              <a:rPr lang="en-GB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19 January 2026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Char char="●"/>
            </a:pPr>
            <a:r>
              <a:rPr lang="en-GB" sz="2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Project End Date</a:t>
            </a:r>
            <a:r>
              <a:rPr lang="en-GB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05 February 2026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Char char="●"/>
            </a:pPr>
            <a:r>
              <a:rPr lang="en-GB" sz="2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Project Duration</a:t>
            </a:r>
            <a:r>
              <a:rPr lang="en-GB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17 days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Scope: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Manual functional testing for all user roles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Automation testing using Selenium WebDriver with Java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Smoke testing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Regression testing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Role-based access and authorization validation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End-to-end examination workflow testing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Cross-browser testing on local browsers (Chrome, Firefox)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Performance testing (basic response time and stability checks)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Outfit"/>
              <a:buChar char="●"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Security testing (basic authentication and authorization validation)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311700" y="9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Roles &amp; Responsibilities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85" name="Google Shape;85;p4"/>
          <p:cNvGraphicFramePr/>
          <p:nvPr/>
        </p:nvGraphicFramePr>
        <p:xfrm>
          <a:off x="374725" y="74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{7D1CC85A-04B9-4C1B-BF05-7EC4A5312BAD}</a:tableStyleId>
              </a:tblPr>
              <a:tblGrid>
                <a:gridCol w="1212625"/>
                <a:gridCol w="1588150"/>
                <a:gridCol w="4438225"/>
              </a:tblGrid>
              <a:tr h="616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Roles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Members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Responsibilities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1.   Admin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Manoj Ambhore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Manual  &amp; A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utomation </a:t>
                      </a: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Testing for Admin User, course, examiner, Performance Testing  JMeter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 2.    Examiner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Tilak Shelke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Manual &amp; Automation execution  for examiner workflow validation , Bug Reporting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 3.    Examiner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Vivek Tiwari 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planning, coordination, automation framework design, Manual &amp; Automation  Execution and reporting.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 4.    Student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Vishvjeet Singh Chauhan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Manual Testing for Candidate-side exam execution and validation, Performance Testing  JMeter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GB" sz="2500"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Application Workflow:  </a:t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80350" y="14550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Create Examiner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339975" y="14550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Create Course &amp; Modules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339975" y="28183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Candidates takes the Exam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945475" y="28725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Generate Reports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618675" y="14550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Course Assign to Examiner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97375" y="1234725"/>
            <a:ext cx="1431300" cy="86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Upload  Student  to </a:t>
            </a:r>
            <a:r>
              <a:rPr b="1" lang="en-GB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Respective</a:t>
            </a: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 Course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618675" y="2818326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view the Result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80350" y="2818325"/>
            <a:ext cx="1431300" cy="86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Upload Question &amp; Schedule the Exam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1088275" y="2474800"/>
            <a:ext cx="6571500" cy="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5"/>
          <p:cNvCxnSpPr>
            <a:endCxn id="93" idx="1"/>
          </p:cNvCxnSpPr>
          <p:nvPr/>
        </p:nvCxnSpPr>
        <p:spPr>
          <a:xfrm>
            <a:off x="1811675" y="3165876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3794325" y="3165876"/>
            <a:ext cx="80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5"/>
          <p:cNvCxnSpPr>
            <a:endCxn id="94" idx="1"/>
          </p:cNvCxnSpPr>
          <p:nvPr/>
        </p:nvCxnSpPr>
        <p:spPr>
          <a:xfrm>
            <a:off x="6049975" y="3220076"/>
            <a:ext cx="8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5"/>
          <p:cNvCxnSpPr>
            <a:endCxn id="92" idx="1"/>
          </p:cNvCxnSpPr>
          <p:nvPr/>
        </p:nvCxnSpPr>
        <p:spPr>
          <a:xfrm flipH="1" rot="10800000">
            <a:off x="1811675" y="1802576"/>
            <a:ext cx="5283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5"/>
          <p:cNvCxnSpPr>
            <a:endCxn id="95" idx="1"/>
          </p:cNvCxnSpPr>
          <p:nvPr/>
        </p:nvCxnSpPr>
        <p:spPr>
          <a:xfrm flipH="1" rot="10800000">
            <a:off x="3771175" y="1802576"/>
            <a:ext cx="847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5"/>
          <p:cNvCxnSpPr>
            <a:endCxn id="96" idx="1"/>
          </p:cNvCxnSpPr>
          <p:nvPr/>
        </p:nvCxnSpPr>
        <p:spPr>
          <a:xfrm>
            <a:off x="6049875" y="1668075"/>
            <a:ext cx="84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5"/>
          <p:cNvCxnSpPr>
            <a:endCxn id="98" idx="0"/>
          </p:cNvCxnSpPr>
          <p:nvPr/>
        </p:nvCxnSpPr>
        <p:spPr>
          <a:xfrm flipH="1">
            <a:off x="1096000" y="2484125"/>
            <a:ext cx="11400" cy="334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5"/>
          <p:cNvCxnSpPr/>
          <p:nvPr/>
        </p:nvCxnSpPr>
        <p:spPr>
          <a:xfrm>
            <a:off x="7655869" y="2101619"/>
            <a:ext cx="3600" cy="3732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269225" y="123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STLC Phase Wise: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113" name="Google Shape;113;p6"/>
          <p:cNvGraphicFramePr/>
          <p:nvPr/>
        </p:nvGraphicFramePr>
        <p:xfrm>
          <a:off x="293500" y="71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{7D1CC85A-04B9-4C1B-BF05-7EC4A5312BAD}</a:tableStyleId>
              </a:tblPr>
              <a:tblGrid>
                <a:gridCol w="1938450"/>
                <a:gridCol w="2653350"/>
                <a:gridCol w="2382300"/>
                <a:gridCol w="1522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Outfit"/>
                          <a:ea typeface="Outfit"/>
                          <a:cs typeface="Outfit"/>
                          <a:sym typeface="Outfit"/>
                        </a:rPr>
                        <a:t>STLC Phase</a:t>
                      </a:r>
                      <a:endParaRPr b="1" sz="18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Activities</a:t>
                      </a:r>
                      <a:endParaRPr b="1" sz="18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Dates</a:t>
                      </a:r>
                      <a:endParaRPr b="1" sz="18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Deliverable</a:t>
                      </a:r>
                      <a:endParaRPr b="1" sz="18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Requirement</a:t>
                      </a: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 </a:t>
                      </a:r>
                      <a:endParaRPr b="1" sz="16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Outfit"/>
                        <a:buAutoNum type="arabicPeriod"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Application Workflow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19-01-2026—20-01-2026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3"/>
                        </a:rPr>
                        <a:t>Link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Planning</a:t>
                      </a:r>
                      <a:endParaRPr b="1" sz="16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2.     Test Plan,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Strategies </a:t>
                      </a: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      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20-01-2026—21-01-2026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4"/>
                        </a:rPr>
                        <a:t>Link</a:t>
                      </a:r>
                      <a:endParaRPr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case </a:t>
                      </a: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Development</a:t>
                      </a: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 </a:t>
                      </a:r>
                      <a:endParaRPr b="1" sz="16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3.     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Scenarios    &amp;</a:t>
                      </a:r>
                      <a:endParaRPr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            Test Cases Design</a:t>
                      </a:r>
                      <a:endParaRPr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                  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21-01-2026—24-01-2026</a:t>
                      </a: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 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5"/>
                        </a:rPr>
                        <a:t>Link</a:t>
                      </a:r>
                      <a:endParaRPr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Env. Set-up</a:t>
                      </a:r>
                      <a:endParaRPr b="1" sz="16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4.      Framework  Created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24-01-2026—25-01-2026</a:t>
                      </a:r>
                      <a:endParaRPr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6"/>
                        </a:rPr>
                        <a:t>Link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600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Execution </a:t>
                      </a:r>
                      <a:endParaRPr b="1" sz="16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5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.       Bug Reporting </a:t>
                      </a: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25-01-2026—28-01-2026</a:t>
                      </a:r>
                      <a:endParaRPr sz="14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u="sng">
                          <a:solidFill>
                            <a:schemeClr val="accent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Link</a:t>
                      </a:r>
                      <a:endParaRPr sz="14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Cycle Closure</a:t>
                      </a:r>
                      <a:endParaRPr b="1" sz="1600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9. Test Closure 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         Report</a:t>
                      </a:r>
                      <a:endParaRPr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(Manual + Automation)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>
                          <a:latin typeface="Outfit"/>
                          <a:ea typeface="Outfit"/>
                          <a:cs typeface="Outfit"/>
                          <a:sym typeface="Outfit"/>
                        </a:rPr>
                        <a:t>  5 February 2026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  <a:hlinkClick r:id="rId8"/>
                        </a:rPr>
                        <a:t>Link</a:t>
                      </a:r>
                      <a:endParaRPr sz="1400" u="none" cap="none" strike="noStrike"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4864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Admin Role: </a:t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5610250" y="1454950"/>
            <a:ext cx="2924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Pass Test Cases: 24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Failed Test Cases: 05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Test Cases: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245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8238" y="1612550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8249" y="1969475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2300" y="2326400"/>
            <a:ext cx="223900" cy="2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 txBox="1"/>
          <p:nvPr/>
        </p:nvSpPr>
        <p:spPr>
          <a:xfrm>
            <a:off x="5586200" y="2742250"/>
            <a:ext cx="33660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Critical :05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High:00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Medium :01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Low:00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Outfit"/>
                <a:ea typeface="Outfit"/>
                <a:cs typeface="Outfit"/>
                <a:sym typeface="Outfit"/>
              </a:rPr>
              <a:t>Total Bug:05</a:t>
            </a:r>
            <a:endParaRPr b="0" i="0" sz="2100" u="none" cap="none" strike="noStrike">
              <a:solidFill>
                <a:schemeClr val="dk1"/>
              </a:solidFill>
              <a:highlight>
                <a:srgbClr val="FFFF0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0" y="4820400"/>
            <a:ext cx="33660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Cases Created By : Manoj Ambhore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026" y="479150"/>
            <a:ext cx="4809324" cy="380527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GB" sz="2500"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Admin flow detailed  Bugs: </a:t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340625" y="981325"/>
            <a:ext cx="8760900" cy="3693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1. Bug_Id : A_BG_01  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Once Switch Role Unable to Return Back </a:t>
            </a: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.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2. Bug_Id : A_BG_02  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Error message is not display when space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is given in admin valid userid field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3. Bug_Id : A_BG_03 -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Error message is not display when space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is given in admin valid password  field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4.  Bug_Id : A_BG_04 -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an error message is not displayed when an space in valid                              userid and a space in valid password are entered.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5. Bug_Id : A_BG_05 - No Minimum Age Validation for CC User.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6987300" y="4709525"/>
            <a:ext cx="21567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Vishvjeet Singh Chauhan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GB" sz="2500">
                <a:latin typeface="Outfit"/>
                <a:ea typeface="Outfit"/>
                <a:cs typeface="Outfit"/>
                <a:sym typeface="Outfit"/>
              </a:rPr>
              <a:t>Examiner Role: </a:t>
            </a:r>
            <a:endParaRPr sz="25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100" y="1083200"/>
            <a:ext cx="4430449" cy="33350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9"/>
          <p:cNvSpPr txBox="1"/>
          <p:nvPr/>
        </p:nvSpPr>
        <p:spPr>
          <a:xfrm>
            <a:off x="462900" y="1349100"/>
            <a:ext cx="2924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Pass Test Cases: 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341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Failed Test Cases:11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Test Cases: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352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913" y="1497100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924" y="1834775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975" y="2172450"/>
            <a:ext cx="223900" cy="2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 txBox="1"/>
          <p:nvPr/>
        </p:nvSpPr>
        <p:spPr>
          <a:xfrm>
            <a:off x="438875" y="2636425"/>
            <a:ext cx="33660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Critical :05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High:01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Medium :02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Low:03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Outfit"/>
                <a:ea typeface="Outfit"/>
                <a:cs typeface="Outfit"/>
                <a:sym typeface="Outfit"/>
              </a:rPr>
              <a:t>Total Bug:11</a:t>
            </a:r>
            <a:endParaRPr b="0" i="0" sz="2100" u="none" cap="none" strike="noStrike">
              <a:solidFill>
                <a:schemeClr val="dk1"/>
              </a:solidFill>
              <a:highlight>
                <a:srgbClr val="FFFF0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5819700" y="4820400"/>
            <a:ext cx="30126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Cases Created By : Tilak Shelke  &amp; Vivek Tiwari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311700" y="24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GB" sz="2500">
                <a:latin typeface="Outfit"/>
                <a:ea typeface="Outfit"/>
                <a:cs typeface="Outfit"/>
                <a:sym typeface="Outfit"/>
              </a:rPr>
              <a:t>Examiner flow detailed  Bugs: </a:t>
            </a:r>
            <a:endParaRPr sz="25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446875" y="1017725"/>
            <a:ext cx="8385300" cy="348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1. Bug_Id : C_BG_01 - Absence Of Captcha Functionality in Login Page.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2. Bug_Id : C_BG_02 - CDAC ACTS  Logo  failed to Navigate.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3. Bug_Id : C_BG_03 - Read More Navigate to the Wrong Page .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4. Bug_Id : C_BG_04 - Back Navigation Arrow Not Working .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5. Bug_Id : C_BG_05 - Exam Date Schedule Exam After  Course End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735550" y="1448900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Vishvjeet Singh Chauhan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735550" y="2806350"/>
            <a:ext cx="36561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735550" y="4163800"/>
            <a:ext cx="28383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</a:t>
            </a:r>
            <a:r>
              <a:rPr b="1" lang="en-GB" sz="1100">
                <a:solidFill>
                  <a:schemeClr val="dk2"/>
                </a:solidFill>
              </a:rPr>
              <a:t>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735550" y="3485075"/>
            <a:ext cx="28383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Manoj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735550" y="212762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311700" y="208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SzPct val="124444"/>
              <a:buNone/>
            </a:pPr>
            <a:r>
              <a:rPr b="1" lang="en-GB" sz="25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Examiner flow detailed  Bugs: </a:t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4444"/>
              <a:buNone/>
            </a:pPr>
            <a:r>
              <a:t/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311700" y="780725"/>
            <a:ext cx="8724600" cy="433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6. Bug_Id : C_BG_06 - after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CC login CC can Access the Admin Page by Admin url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7. Bug_Id : C_BG_07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- It Accept any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time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when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cc Trying to Schedule the Exam.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8. Bug_Id : C_BG_08 -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It Accept as Zero as Passing Marks for Exam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9. Bug_Id : C_BG_09 -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no restriction on the number of incorrect password attempts</a:t>
            </a:r>
            <a:r>
              <a:rPr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10. Bug_Id : C_BG_10-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When we change the CC password CC still in Same Page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11. Bug_Id : C_BG_11- Random Password change for Selected Student </a:t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735550" y="123012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433050" y="1924113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Vishvjeet Singh Chauhan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633200" y="2527150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Manoj  Ambhore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517200" y="342152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675425" y="405597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Vishvjeet Singh Chauhan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735550" y="4572550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Vishvjeet Singh Chauhan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4864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5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Student Role: </a:t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4"/>
            <a:ext cx="4525174" cy="3549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" name="Google Shape;174;p12"/>
          <p:cNvSpPr txBox="1"/>
          <p:nvPr/>
        </p:nvSpPr>
        <p:spPr>
          <a:xfrm>
            <a:off x="5610250" y="1454950"/>
            <a:ext cx="2924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Pass Test Cases: 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Failed Test Cases: 06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Test Cases: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61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75" name="Google Shape;1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8238" y="1612550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8249" y="1969475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2300" y="2326400"/>
            <a:ext cx="223900" cy="2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2"/>
          <p:cNvSpPr txBox="1"/>
          <p:nvPr/>
        </p:nvSpPr>
        <p:spPr>
          <a:xfrm>
            <a:off x="5586200" y="2742250"/>
            <a:ext cx="3366000" cy="212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Critical :02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High:01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Medium :00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Low:03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Outfit"/>
                <a:ea typeface="Outfit"/>
                <a:cs typeface="Outfit"/>
                <a:sym typeface="Outfit"/>
              </a:rPr>
              <a:t>Total Bug:06</a:t>
            </a:r>
            <a:endParaRPr b="0" i="0" sz="2100" u="none" cap="none" strike="noStrike">
              <a:solidFill>
                <a:schemeClr val="dk1"/>
              </a:solidFill>
              <a:highlight>
                <a:srgbClr val="FFFF00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9" name="Google Shape;179;p12"/>
          <p:cNvSpPr txBox="1"/>
          <p:nvPr/>
        </p:nvSpPr>
        <p:spPr>
          <a:xfrm>
            <a:off x="0" y="4820400"/>
            <a:ext cx="42045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Cases Created By : Vishvjeet Singh Chauhan 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GB" sz="2500">
                <a:latin typeface="Outfit"/>
                <a:ea typeface="Outfit"/>
                <a:cs typeface="Outfit"/>
                <a:sym typeface="Outfit"/>
              </a:rPr>
              <a:t>Student flow detailed  Bugs: </a:t>
            </a:r>
            <a:endParaRPr sz="25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446875" y="1017725"/>
            <a:ext cx="8520600" cy="398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1. Bug_Id : S_BG_01 - CDAC ACTS  Logo  Navigation happen during exam. 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2. Bug_Id : S_BG_02 - Window  Switching Message.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3. Bug_Id : S_BG_03 - Tab Closed After Student Login, Student block .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4. Bug_Id : S_BG_04 - Warning didn’t display before 5 min Of Exam end .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5. Bug_Id : S_BG_05 - Student Access the Admin Tab by admin url.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9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6.  Bug_Id : S_BG_06 - Blocked Account Login </a:t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887950" y="144892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Tilak Shelke 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87950" y="2033513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Tilak Shelke 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87950" y="261812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Manoj  Ambhore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87950" y="3934675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Tilak Shelke 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966475" y="4592950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Tilak Shelke 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887950" y="3276388"/>
            <a:ext cx="2722800" cy="354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Tested By :  Vivek Tiwari</a:t>
            </a:r>
            <a:endParaRPr b="0" i="0" sz="1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Manual Testing Report (</a:t>
            </a:r>
            <a:r>
              <a:rPr lang="en-GB" sz="2355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Link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>):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549475" y="1368350"/>
            <a:ext cx="2924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Pass Test Cases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635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Failed Test Cases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022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GB" sz="21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Total Test Cases: </a:t>
            </a:r>
            <a:r>
              <a:rPr lang="en-GB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658</a:t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463" y="1516350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474" y="1873275"/>
            <a:ext cx="272000" cy="2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525" y="2230200"/>
            <a:ext cx="223900" cy="2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bd3aa6957a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612"/>
            <a:ext cx="9143999" cy="70487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bd3aa6957a_3_7"/>
          <p:cNvSpPr txBox="1"/>
          <p:nvPr/>
        </p:nvSpPr>
        <p:spPr>
          <a:xfrm>
            <a:off x="490125" y="819500"/>
            <a:ext cx="8315700" cy="44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●Automation Testing in e-Pariksha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○e-Pariksha is a role-based examination system involving Admin,         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   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Coordinator, and Student.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○Automation testing is implemented to validate critical and repetitive 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 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exam workflows.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○Selenium automation helps ensure Faster regression execution, Accurate 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   </a:t>
            </a: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role-based validation, Stable exam readiness.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●Goal of Automation: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 ○Reduce manual effort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○Improve execution speed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     ○Increase confidence before exam conduction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bd3aa6957a_3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392928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bd3aa6957a_3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681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311700" y="445025"/>
            <a:ext cx="325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GB" sz="2500"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Tools &amp; Technologies:</a:t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latin typeface="Outfit"/>
              <a:ea typeface="Outfit"/>
              <a:cs typeface="Outfit"/>
              <a:sym typeface="Outfit"/>
            </a:endParaRPr>
          </a:p>
        </p:txBody>
      </p:sp>
      <p:graphicFrame>
        <p:nvGraphicFramePr>
          <p:cNvPr id="218" name="Google Shape;218;p15"/>
          <p:cNvGraphicFramePr/>
          <p:nvPr/>
        </p:nvGraphicFramePr>
        <p:xfrm>
          <a:off x="311700" y="12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{7D1CC85A-04B9-4C1B-BF05-7EC4A5312BAD}</a:tableStyleId>
              </a:tblPr>
              <a:tblGrid>
                <a:gridCol w="2705100"/>
                <a:gridCol w="56102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GB" sz="20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Category</a:t>
                      </a:r>
                      <a:endParaRPr b="1" sz="20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GB" sz="21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Tool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Automation Tool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Selenium WebDriver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Programming Language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Java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Framework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TestNG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IDE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Eclipse IDE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Test Case Management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Excel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Defect Tracking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Excel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Version Control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Github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Outfit"/>
                        <a:ea typeface="Outfit"/>
                        <a:cs typeface="Outfit"/>
                        <a:sym typeface="Outfi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260550" y="113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-GB" sz="2500">
                <a:latin typeface="Outfit"/>
                <a:ea typeface="Outfit"/>
                <a:cs typeface="Outfit"/>
                <a:sym typeface="Outfit"/>
              </a:rPr>
              <a:t>Why These Tools &amp; Technologies :</a:t>
            </a:r>
            <a:endParaRPr b="1"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373425" y="916400"/>
            <a:ext cx="4340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Automation Tool (Selenium WebDriver):</a:t>
            </a:r>
            <a:endParaRPr b="1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its open-source nature, strong community support, and capability to automate web applications across multiple browsers efficiently.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Programming Language (Java):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Java was used for automation scripting because of its platform independence, robustness, and excellent integration with Selenium and testing frameworks.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Test Framework (TestNG):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TestNG was implemented to manage test execution, support annotations, enable parallel testing, and generate detailed execution reports.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Integrated Development Environment (Eclipse IDE):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Eclipse IDE was chosen for its powerful development features, seamless Java support, efficient debugging capabilities, and wide plugin availability.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5061175" y="718825"/>
            <a:ext cx="33252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Test Case Management (Excel):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Excel was utilized for maintaining and organizing test cases due to its simplicity, ease of customization, and suitability for small to medium-scale projects.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Defect Tracking (Excel):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Excel was used for defect tracking to record, monitor, and analyze defects effectively, ensuring clear communication and traceability within the team.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Version Control (GitHub):</a:t>
            </a:r>
            <a:br>
              <a:rPr b="1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GitHub was adopted for source code management to enable version control, team collaboration, secure code storage, and maintenance of change history.</a:t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bd3aa6957a_3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730423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bd3aa6957a_3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197" cy="68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217450" y="185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GB" sz="2700">
                <a:latin typeface="Outfit"/>
                <a:ea typeface="Outfit"/>
                <a:cs typeface="Outfit"/>
                <a:sym typeface="Outfit"/>
              </a:rPr>
              <a:t>Automation  Critical Workflow  :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1955000" y="906625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Create Examiner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189450" y="906651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Admin Login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3762100" y="906625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Create Courses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510300" y="871651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Added Modules in Courses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7263000" y="871751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Courses Assign to Examiner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26194" y="2023863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login 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26194" y="3071188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Logout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126200" y="4063577"/>
            <a:ext cx="14313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Again Examiner Login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7306744" y="2057013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 Schedule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5510294" y="2057013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Student List Upload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3762094" y="2043325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Question File Upload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944150" y="1937800"/>
            <a:ext cx="1431300" cy="69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 Change the Password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7344494" y="3038888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Student Logout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954994" y="3071188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Student Login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5510294" y="3038888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Student View the Result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3732644" y="3074500"/>
            <a:ext cx="1431300" cy="62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Attempt Login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876850" y="4063575"/>
            <a:ext cx="1431300" cy="75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View the Result 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3732650" y="4063577"/>
            <a:ext cx="1431300" cy="726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Examiner Logout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7"/>
          <p:cNvCxnSpPr/>
          <p:nvPr/>
        </p:nvCxnSpPr>
        <p:spPr>
          <a:xfrm flipH="1" rot="10800000">
            <a:off x="614431" y="1754625"/>
            <a:ext cx="7281600" cy="30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7"/>
          <p:cNvCxnSpPr/>
          <p:nvPr/>
        </p:nvCxnSpPr>
        <p:spPr>
          <a:xfrm flipH="1" rot="10800000">
            <a:off x="728256" y="2845400"/>
            <a:ext cx="7281600" cy="30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7"/>
          <p:cNvCxnSpPr/>
          <p:nvPr/>
        </p:nvCxnSpPr>
        <p:spPr>
          <a:xfrm flipH="1" rot="10800000">
            <a:off x="836956" y="3866488"/>
            <a:ext cx="7281600" cy="30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7"/>
          <p:cNvCxnSpPr/>
          <p:nvPr/>
        </p:nvCxnSpPr>
        <p:spPr>
          <a:xfrm>
            <a:off x="1620744" y="12541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17"/>
          <p:cNvCxnSpPr/>
          <p:nvPr/>
        </p:nvCxnSpPr>
        <p:spPr>
          <a:xfrm>
            <a:off x="3382369" y="1279313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p17"/>
          <p:cNvCxnSpPr/>
          <p:nvPr/>
        </p:nvCxnSpPr>
        <p:spPr>
          <a:xfrm>
            <a:off x="1567669" y="2336463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p17"/>
          <p:cNvCxnSpPr/>
          <p:nvPr/>
        </p:nvCxnSpPr>
        <p:spPr>
          <a:xfrm>
            <a:off x="5193394" y="128833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17"/>
          <p:cNvCxnSpPr/>
          <p:nvPr/>
        </p:nvCxnSpPr>
        <p:spPr>
          <a:xfrm>
            <a:off x="3385619" y="23489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17"/>
          <p:cNvCxnSpPr/>
          <p:nvPr/>
        </p:nvCxnSpPr>
        <p:spPr>
          <a:xfrm>
            <a:off x="6896694" y="12541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4" name="Google Shape;264;p17"/>
          <p:cNvCxnSpPr/>
          <p:nvPr/>
        </p:nvCxnSpPr>
        <p:spPr>
          <a:xfrm>
            <a:off x="5157944" y="23627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5" name="Google Shape;265;p17"/>
          <p:cNvCxnSpPr/>
          <p:nvPr/>
        </p:nvCxnSpPr>
        <p:spPr>
          <a:xfrm>
            <a:off x="6941594" y="2369613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17"/>
          <p:cNvCxnSpPr/>
          <p:nvPr/>
        </p:nvCxnSpPr>
        <p:spPr>
          <a:xfrm>
            <a:off x="1567669" y="337923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17"/>
          <p:cNvCxnSpPr/>
          <p:nvPr/>
        </p:nvCxnSpPr>
        <p:spPr>
          <a:xfrm>
            <a:off x="3350744" y="33870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17"/>
          <p:cNvCxnSpPr/>
          <p:nvPr/>
        </p:nvCxnSpPr>
        <p:spPr>
          <a:xfrm>
            <a:off x="5143994" y="33870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17"/>
          <p:cNvCxnSpPr/>
          <p:nvPr/>
        </p:nvCxnSpPr>
        <p:spPr>
          <a:xfrm>
            <a:off x="6941594" y="3387088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17"/>
          <p:cNvCxnSpPr/>
          <p:nvPr/>
        </p:nvCxnSpPr>
        <p:spPr>
          <a:xfrm>
            <a:off x="1510544" y="4426863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" name="Google Shape;271;p17"/>
          <p:cNvCxnSpPr/>
          <p:nvPr/>
        </p:nvCxnSpPr>
        <p:spPr>
          <a:xfrm>
            <a:off x="3337244" y="4426863"/>
            <a:ext cx="36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7896019" y="1566744"/>
            <a:ext cx="10500" cy="204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8017144" y="2632194"/>
            <a:ext cx="10500" cy="204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7"/>
          <p:cNvCxnSpPr/>
          <p:nvPr/>
        </p:nvCxnSpPr>
        <p:spPr>
          <a:xfrm>
            <a:off x="8118544" y="3664094"/>
            <a:ext cx="10500" cy="204300"/>
          </a:xfrm>
          <a:prstGeom prst="straightConnector1">
            <a:avLst/>
          </a:prstGeom>
          <a:noFill/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7"/>
          <p:cNvCxnSpPr/>
          <p:nvPr/>
        </p:nvCxnSpPr>
        <p:spPr>
          <a:xfrm flipH="1">
            <a:off x="612625" y="1790400"/>
            <a:ext cx="15600" cy="21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7"/>
          <p:cNvCxnSpPr/>
          <p:nvPr/>
        </p:nvCxnSpPr>
        <p:spPr>
          <a:xfrm flipH="1">
            <a:off x="728250" y="2888025"/>
            <a:ext cx="15600" cy="21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17"/>
          <p:cNvCxnSpPr/>
          <p:nvPr/>
        </p:nvCxnSpPr>
        <p:spPr>
          <a:xfrm flipH="1">
            <a:off x="821350" y="3866500"/>
            <a:ext cx="15600" cy="21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17"/>
          <p:cNvSpPr txBox="1"/>
          <p:nvPr/>
        </p:nvSpPr>
        <p:spPr>
          <a:xfrm>
            <a:off x="6537600" y="4821675"/>
            <a:ext cx="26064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Performed By : Vivek Tiwari and Tilak Shelke 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bd3aa6957a_3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51405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bd3aa6957a_3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53251" cy="8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d22e1dc8f_0_2"/>
          <p:cNvSpPr txBox="1"/>
          <p:nvPr>
            <p:ph type="title"/>
          </p:nvPr>
        </p:nvSpPr>
        <p:spPr>
          <a:xfrm>
            <a:off x="311700" y="13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Project f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>older Structure: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90" name="Google Shape;290;g3bd22e1dc8f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350" y="990400"/>
            <a:ext cx="2509200" cy="3723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1" name="Google Shape;291;g3bd22e1dc8f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8100" y="990400"/>
            <a:ext cx="3079265" cy="3723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g3bd22e1dc8f_0_2"/>
          <p:cNvSpPr txBox="1"/>
          <p:nvPr/>
        </p:nvSpPr>
        <p:spPr>
          <a:xfrm>
            <a:off x="361225" y="990400"/>
            <a:ext cx="3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g3bd22e1dc8f_0_2"/>
          <p:cNvSpPr txBox="1"/>
          <p:nvPr/>
        </p:nvSpPr>
        <p:spPr>
          <a:xfrm>
            <a:off x="3474625" y="990400"/>
            <a:ext cx="3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d22e1dc8f_0_11"/>
          <p:cNvSpPr txBox="1"/>
          <p:nvPr>
            <p:ph type="title"/>
          </p:nvPr>
        </p:nvSpPr>
        <p:spPr>
          <a:xfrm>
            <a:off x="464100" y="29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Project folder Structure: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99" name="Google Shape;299;g3bd22e1dc8f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200" y="990050"/>
            <a:ext cx="33528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bd22e1dc8f_0_11"/>
          <p:cNvSpPr txBox="1"/>
          <p:nvPr/>
        </p:nvSpPr>
        <p:spPr>
          <a:xfrm>
            <a:off x="377100" y="990050"/>
            <a:ext cx="53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1" name="Google Shape;301;g3bd22e1dc8f_0_11"/>
          <p:cNvSpPr txBox="1"/>
          <p:nvPr/>
        </p:nvSpPr>
        <p:spPr>
          <a:xfrm>
            <a:off x="4645000" y="990050"/>
            <a:ext cx="53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r>
              <a:rPr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02" name="Google Shape;302;g3bd22e1dc8f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6350" y="990050"/>
            <a:ext cx="38195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Automation Testing Report (</a:t>
            </a:r>
            <a:r>
              <a:rPr lang="en-GB" sz="2022" u="sng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  <a:hlinkClick r:id="rId3"/>
              </a:rPr>
              <a:t>Extend_Report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>):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6752100" y="4820400"/>
            <a:ext cx="23919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Created By : Vivek Tiwari &amp; Tilak Shelke 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00" y="1127925"/>
            <a:ext cx="3971352" cy="15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900" y="2883425"/>
            <a:ext cx="3971352" cy="18243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Suggestions: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"/>
              <a:buChar char="●"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For All user→ Remember me functionality Should be Available 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49250" lvl="0" marL="4572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utfit"/>
              <a:buChar char="●"/>
            </a:pPr>
            <a:r>
              <a:rPr lang="en-GB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For All user → Forgot Password functionality Should be Available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Exam → Delete,edit ,Add button Should be Available for  Exam 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Student → </a:t>
            </a:r>
            <a:r>
              <a:rPr lang="en-GB">
                <a:solidFill>
                  <a:schemeClr val="dk1"/>
                </a:solidFill>
              </a:rPr>
              <a:t>Delete,edit ,Add button Should be Available for  Student.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7711800" y="4820400"/>
            <a:ext cx="1432200" cy="32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Suggestion  By :Team</a:t>
            </a:r>
            <a:endParaRPr b="1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23" name="Google Shape;32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GB" sz="7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Thank You!</a:t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3070400" y="2559975"/>
            <a:ext cx="45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1230600" y="2386025"/>
            <a:ext cx="668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GB" sz="3600">
                <a:latin typeface="Outfit"/>
                <a:ea typeface="Outfit"/>
                <a:cs typeface="Outfit"/>
                <a:sym typeface="Outfit"/>
              </a:rPr>
              <a:t>References: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311700" y="1152475"/>
            <a:ext cx="8781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GB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http://ccst-testvm.pune.cdac.in:8080/epAdmin/index.jsp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GB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https://cdac.in/index.aspx?id=Acts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GB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https://drive.google.com/drive/folders/1_iNl-4iROLBPkRTfQrWzGzkf71eV8tmS?usp=drive_link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